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sldIdLst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" userDrawn="1">
          <p15:clr>
            <a:srgbClr val="A4A3A4"/>
          </p15:clr>
        </p15:guide>
        <p15:guide id="2" pos="74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2922C"/>
    <a:srgbClr val="F58014"/>
    <a:srgbClr val="599E2F"/>
    <a:srgbClr val="E08803"/>
    <a:srgbClr val="FF9A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135"/>
    <p:restoredTop sz="92949" autoAdjust="0"/>
  </p:normalViewPr>
  <p:slideViewPr>
    <p:cSldViewPr snapToGrid="0" snapToObjects="1">
      <p:cViewPr varScale="1">
        <p:scale>
          <a:sx n="108" d="100"/>
          <a:sy n="108" d="100"/>
        </p:scale>
        <p:origin x="216" y="608"/>
      </p:cViewPr>
      <p:guideLst>
        <p:guide orient="horz" pos="216"/>
        <p:guide pos="74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D1C33D-175C-4448-AC53-4345F676D392}" type="datetimeFigureOut">
              <a:rPr lang="en-US" smtClean="0"/>
              <a:t>2/5/26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1A4DCC-CA9B-214F-9112-09963284714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91217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1A4DCC-CA9B-214F-9112-09963284714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7713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AB9A9C6-B8E3-2A41-AF1C-B44611D7F3B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5100" y="114300"/>
            <a:ext cx="5676900" cy="67437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E4E5EF8-3F55-CC40-8877-5D48D7C063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570961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440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D648D3-80FB-6246-9942-F676252E6F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93324"/>
            <a:ext cx="9144000" cy="64839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BE2BC4-9C8D-384B-8201-214796D373D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5272" t="13428" r="5705" b="18819"/>
          <a:stretch/>
        </p:blipFill>
        <p:spPr>
          <a:xfrm>
            <a:off x="1440872" y="5378335"/>
            <a:ext cx="2872549" cy="1000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788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704FCAC-D9D3-9E4F-B7F2-077EAFFC4BA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445" y="3993267"/>
            <a:ext cx="2411555" cy="286473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0115303-0D88-FC4F-A64A-0DABCD2F0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6159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C8021D-5040-E443-B438-B5DF5DB17B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728744-A790-8648-9D59-4DCBBF5298F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5272" t="13428" r="5705" b="18819"/>
          <a:stretch/>
        </p:blipFill>
        <p:spPr>
          <a:xfrm>
            <a:off x="8032866" y="6148022"/>
            <a:ext cx="1784465" cy="621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3394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43659CE-AB87-2E42-9B51-E4338EB773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445" y="3993267"/>
            <a:ext cx="2411555" cy="2864733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6C763D1-54E7-1F4C-9A40-8033FD87C96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49963" y="1250950"/>
            <a:ext cx="5303837" cy="481911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115303-0D88-FC4F-A64A-0DABCD2F0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6159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C8021D-5040-E443-B438-B5DF5DB17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0951"/>
            <a:ext cx="5085945" cy="4819110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728744-A790-8648-9D59-4DCBBF5298F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5272" t="13428" r="5705" b="18819"/>
          <a:stretch/>
        </p:blipFill>
        <p:spPr>
          <a:xfrm>
            <a:off x="8032866" y="6148022"/>
            <a:ext cx="1784465" cy="621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9695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10D1FE8A-B770-A54B-BB1F-BB647AC8A8F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445" y="3993267"/>
            <a:ext cx="2411555" cy="286473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0115303-0D88-FC4F-A64A-0DABCD2F0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6159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C8021D-5040-E443-B438-B5DF5DB17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0951"/>
            <a:ext cx="10515600" cy="4284087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728744-A790-8648-9D59-4DCBBF5298F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5272" t="13428" r="5705" b="18819"/>
          <a:stretch/>
        </p:blipFill>
        <p:spPr>
          <a:xfrm>
            <a:off x="8032866" y="6148022"/>
            <a:ext cx="1784465" cy="621545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062243-C1CF-714B-A683-D890075FBD6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5592763"/>
            <a:ext cx="6516688" cy="836612"/>
          </a:xfrm>
        </p:spPr>
        <p:txBody>
          <a:bodyPr/>
          <a:lstStyle>
            <a:lvl1pPr>
              <a:defRPr sz="2000"/>
            </a:lvl1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343918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896-24B9-D543-BC49-89300DAB7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7048" y="1124712"/>
            <a:ext cx="7928237" cy="167548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384264-DB8D-274D-83EB-C183729E59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7048" y="2800199"/>
            <a:ext cx="7928237" cy="1353512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173734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23A049B-E848-0344-AD81-982DC96C73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5100" y="114300"/>
            <a:ext cx="5676900" cy="67437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E4E5EF8-3F55-CC40-8877-5D48D7C0631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1570961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440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Thank you.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D648D3-80FB-6246-9942-F676252E6F9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97665"/>
            <a:ext cx="5139447" cy="1279903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Contact information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BE2BC4-9C8D-384B-8201-214796D373D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5272" t="13428" r="5705" b="18819"/>
          <a:stretch/>
        </p:blipFill>
        <p:spPr>
          <a:xfrm>
            <a:off x="1440872" y="5378335"/>
            <a:ext cx="2872549" cy="1000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662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F0656E-DA2F-C14C-BF10-2FC3587B40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51284"/>
            <a:ext cx="10515600" cy="49256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C3011-D639-B54B-9228-EB3085D04C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EC4368-C769-8143-B102-F97927FA2E0C}" type="datetimeFigureOut">
              <a:rPr lang="en-US" smtClean="0"/>
              <a:t>2/5/26</a:t>
            </a:fld>
            <a:endParaRPr lang="en-US" dirty="0"/>
          </a:p>
        </p:txBody>
      </p:sp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A5E7B941-CE32-1D43-B287-BCB25BBF8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38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39430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61" r:id="rId4"/>
    <p:sldLayoutId id="2147483651" r:id="rId5"/>
    <p:sldLayoutId id="2147483662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800" kern="120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334A8-E0AC-FD46-BFB0-47BF3647A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7748"/>
            <a:ext cx="5143500" cy="6730252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1900" b="1" i="0" dirty="0">
                <a:solidFill>
                  <a:schemeClr val="accent2"/>
                </a:solidFill>
                <a:effectLst/>
                <a:latin typeface="Helvetica Neue" panose="02000503000000020004" pitchFamily="2" charset="0"/>
              </a:rPr>
              <a:t>AI-support for teaching and learning at </a:t>
            </a:r>
            <a:r>
              <a:rPr lang="en-US" sz="1900" b="1" i="0" u="sng" dirty="0">
                <a:solidFill>
                  <a:schemeClr val="accent2"/>
                </a:solidFill>
                <a:effectLst/>
                <a:latin typeface="Helvetica Neue" panose="02000503000000020004" pitchFamily="2" charset="0"/>
              </a:rPr>
              <a:t>scale</a:t>
            </a:r>
          </a:p>
          <a:p>
            <a:r>
              <a:rPr lang="en-US" sz="1100" dirty="0">
                <a:solidFill>
                  <a:srgbClr val="333333"/>
                </a:solidFill>
                <a:latin typeface="Helvetica Neue" panose="02000503000000020004" pitchFamily="2" charset="0"/>
              </a:rPr>
              <a:t>"write-to-learn" tasks improve learning outcomes, yet constructed-response methods become unwieldy when class sizes are large</a:t>
            </a:r>
          </a:p>
          <a:p>
            <a:r>
              <a:rPr lang="en-US" sz="1100" dirty="0">
                <a:solidFill>
                  <a:srgbClr val="333333"/>
                </a:solidFill>
                <a:latin typeface="Helvetica Neue" panose="02000503000000020004" pitchFamily="2" charset="0"/>
              </a:rPr>
              <a:t>Develop LLM and AI-based tools intended to amplify instructor efforts to provide timely, personalized feedback</a:t>
            </a:r>
          </a:p>
          <a:p>
            <a:r>
              <a:rPr lang="en-US" sz="1100" dirty="0">
                <a:solidFill>
                  <a:srgbClr val="333333"/>
                </a:solidFill>
                <a:latin typeface="Helvetica Neue" panose="02000503000000020004" pitchFamily="2" charset="0"/>
              </a:rPr>
              <a:t>Build trust and confidence that human-AI partnerships make a responsible contribution</a:t>
            </a:r>
          </a:p>
          <a:p>
            <a:endParaRPr lang="en-US" sz="12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endParaRPr lang="en-US" sz="12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endParaRPr lang="en-US" sz="12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endParaRPr lang="en-US" sz="12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endParaRPr lang="en-US" sz="12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endParaRPr lang="en-US" sz="12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endParaRPr lang="en-US" sz="12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endParaRPr lang="en-US" sz="12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endParaRPr lang="en-US" sz="12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pPr lvl="1"/>
            <a:endParaRPr lang="en-US" sz="600" b="0" i="0" dirty="0">
              <a:solidFill>
                <a:srgbClr val="333333"/>
              </a:solidFill>
              <a:effectLst/>
              <a:latin typeface="Helvetica Neue" panose="02000503000000020004" pitchFamily="2" charset="0"/>
            </a:endParaRPr>
          </a:p>
          <a:p>
            <a:pPr marL="0" indent="0" algn="l">
              <a:buNone/>
            </a:pPr>
            <a:r>
              <a:rPr lang="en-US" sz="1200" b="0" i="0" dirty="0">
                <a:solidFill>
                  <a:srgbClr val="333333"/>
                </a:solidFill>
                <a:effectLst/>
                <a:latin typeface="Helvetica Neue" panose="02000503000000020004" pitchFamily="2" charset="0"/>
              </a:rPr>
              <a:t>Related Papers &amp; Acknowledgement:</a:t>
            </a:r>
            <a:endParaRPr lang="en-US" sz="10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pPr marL="0" indent="0">
              <a:lnSpc>
                <a:spcPct val="120000"/>
              </a:lnSpc>
              <a:spcBef>
                <a:spcPts val="100"/>
              </a:spcBef>
              <a:buNone/>
            </a:pPr>
            <a:endParaRPr lang="en-US" sz="9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pPr marL="0" indent="0">
              <a:lnSpc>
                <a:spcPct val="120000"/>
              </a:lnSpc>
              <a:spcBef>
                <a:spcPts val="100"/>
              </a:spcBef>
              <a:buNone/>
            </a:pPr>
            <a:r>
              <a:rPr lang="en-US" sz="900" dirty="0">
                <a:solidFill>
                  <a:srgbClr val="333333"/>
                </a:solidFill>
                <a:latin typeface="Helvetica Neue" panose="02000503000000020004" pitchFamily="2" charset="0"/>
              </a:rPr>
              <a:t>Beckman, Burke, </a:t>
            </a:r>
            <a:r>
              <a:rPr lang="en-US" sz="900" dirty="0" err="1">
                <a:solidFill>
                  <a:srgbClr val="333333"/>
                </a:solidFill>
                <a:latin typeface="Helvetica Neue" panose="02000503000000020004" pitchFamily="2" charset="0"/>
              </a:rPr>
              <a:t>Fiochetta</a:t>
            </a:r>
            <a:r>
              <a:rPr lang="en-US" sz="900" dirty="0">
                <a:solidFill>
                  <a:srgbClr val="333333"/>
                </a:solidFill>
                <a:latin typeface="Helvetica Neue" panose="02000503000000020004" pitchFamily="2" charset="0"/>
              </a:rPr>
              <a:t>, Fry, Susan Lloyd, Patterson, Elle Tang (in review). Developing Consistency Among Undergraduate Graders Scoring Open-Ended Statistics Tasks. Preprint URL: https://</a:t>
            </a:r>
            <a:r>
              <a:rPr lang="en-US" sz="900" dirty="0" err="1">
                <a:solidFill>
                  <a:srgbClr val="333333"/>
                </a:solidFill>
                <a:latin typeface="Helvetica Neue" panose="02000503000000020004" pitchFamily="2" charset="0"/>
              </a:rPr>
              <a:t>arxiv.org</a:t>
            </a:r>
            <a:r>
              <a:rPr lang="en-US" sz="900" dirty="0">
                <a:solidFill>
                  <a:srgbClr val="333333"/>
                </a:solidFill>
                <a:latin typeface="Helvetica Neue" panose="02000503000000020004" pitchFamily="2" charset="0"/>
              </a:rPr>
              <a:t>/abs/2410.18062</a:t>
            </a:r>
          </a:p>
          <a:p>
            <a:pPr marL="0" indent="0" algn="l">
              <a:lnSpc>
                <a:spcPct val="120000"/>
              </a:lnSpc>
              <a:spcBef>
                <a:spcPts val="100"/>
              </a:spcBef>
              <a:buNone/>
            </a:pPr>
            <a:endParaRPr lang="en-US" sz="9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pPr marL="0" indent="0" algn="l">
              <a:lnSpc>
                <a:spcPct val="120000"/>
              </a:lnSpc>
              <a:spcBef>
                <a:spcPts val="100"/>
              </a:spcBef>
              <a:buNone/>
            </a:pPr>
            <a:r>
              <a:rPr lang="en-US" sz="900" dirty="0">
                <a:solidFill>
                  <a:srgbClr val="333333"/>
                </a:solidFill>
                <a:latin typeface="Helvetica Neue" panose="02000503000000020004" pitchFamily="2" charset="0"/>
              </a:rPr>
              <a:t>Li, Susan Lloyd, Beckman, &amp; </a:t>
            </a:r>
            <a:r>
              <a:rPr lang="en-US" sz="900" dirty="0" err="1">
                <a:solidFill>
                  <a:srgbClr val="333333"/>
                </a:solidFill>
                <a:latin typeface="Helvetica Neue" panose="02000503000000020004" pitchFamily="2" charset="0"/>
              </a:rPr>
              <a:t>Passonneau</a:t>
            </a:r>
            <a:r>
              <a:rPr lang="en-US" sz="900" dirty="0">
                <a:solidFill>
                  <a:srgbClr val="333333"/>
                </a:solidFill>
                <a:latin typeface="Helvetica Neue" panose="02000503000000020004" pitchFamily="2" charset="0"/>
              </a:rPr>
              <a:t> (2023). Answer-state Recurrent Relational Network (</a:t>
            </a:r>
            <a:r>
              <a:rPr lang="en-US" sz="900" dirty="0" err="1">
                <a:solidFill>
                  <a:srgbClr val="333333"/>
                </a:solidFill>
                <a:latin typeface="Helvetica Neue" panose="02000503000000020004" pitchFamily="2" charset="0"/>
              </a:rPr>
              <a:t>AsRRN</a:t>
            </a:r>
            <a:r>
              <a:rPr lang="en-US" sz="900" dirty="0">
                <a:solidFill>
                  <a:srgbClr val="333333"/>
                </a:solidFill>
                <a:latin typeface="Helvetica Neue" panose="02000503000000020004" pitchFamily="2" charset="0"/>
              </a:rPr>
              <a:t>) for Constructed Response Assessment and Feedback Grouping. </a:t>
            </a:r>
            <a:r>
              <a:rPr lang="en-US" sz="900" i="1" dirty="0">
                <a:solidFill>
                  <a:srgbClr val="333333"/>
                </a:solidFill>
                <a:latin typeface="Helvetica Neue" panose="02000503000000020004" pitchFamily="2" charset="0"/>
              </a:rPr>
              <a:t>Findings of the Conference on Empirical Methods in Natural Language Processing (EMNLP) 2023</a:t>
            </a:r>
            <a:r>
              <a:rPr lang="en-US" sz="900" dirty="0">
                <a:solidFill>
                  <a:srgbClr val="333333"/>
                </a:solidFill>
                <a:latin typeface="Helvetica Neue" panose="02000503000000020004" pitchFamily="2" charset="0"/>
              </a:rPr>
              <a:t> </a:t>
            </a:r>
          </a:p>
          <a:p>
            <a:pPr marL="0" indent="0" algn="l">
              <a:lnSpc>
                <a:spcPct val="120000"/>
              </a:lnSpc>
              <a:spcBef>
                <a:spcPts val="100"/>
              </a:spcBef>
              <a:buNone/>
            </a:pPr>
            <a:endParaRPr lang="en-US" sz="9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pPr marL="0" indent="0" algn="l">
              <a:lnSpc>
                <a:spcPct val="120000"/>
              </a:lnSpc>
              <a:spcBef>
                <a:spcPts val="100"/>
              </a:spcBef>
              <a:buNone/>
            </a:pPr>
            <a:r>
              <a:rPr lang="en-US" sz="900" b="0" i="0" dirty="0">
                <a:solidFill>
                  <a:srgbClr val="333333"/>
                </a:solidFill>
                <a:effectLst/>
                <a:latin typeface="Helvetica Neue" panose="02000503000000020004" pitchFamily="2" charset="0"/>
              </a:rPr>
              <a:t>Susan Lloyd, Beckman, Pearl, </a:t>
            </a:r>
            <a:r>
              <a:rPr lang="en-US" sz="900" b="0" i="0" dirty="0" err="1">
                <a:solidFill>
                  <a:srgbClr val="333333"/>
                </a:solidFill>
                <a:effectLst/>
                <a:latin typeface="Helvetica Neue" panose="02000503000000020004" pitchFamily="2" charset="0"/>
              </a:rPr>
              <a:t>Passonneau</a:t>
            </a:r>
            <a:r>
              <a:rPr lang="en-US" sz="900" b="0" i="0" dirty="0">
                <a:solidFill>
                  <a:srgbClr val="333333"/>
                </a:solidFill>
                <a:effectLst/>
                <a:latin typeface="Helvetica Neue" panose="02000503000000020004" pitchFamily="2" charset="0"/>
              </a:rPr>
              <a:t>, Li, &amp; Wang (2022). Foundations for AI-Assisted Formative Assessment Feedback for Short-Answer Tasks in Large-Enrollment Classes. In </a:t>
            </a:r>
            <a:r>
              <a:rPr lang="en-US" sz="900" b="0" i="1" dirty="0">
                <a:solidFill>
                  <a:srgbClr val="333333"/>
                </a:solidFill>
                <a:effectLst/>
                <a:latin typeface="Helvetica Neue" panose="02000503000000020004" pitchFamily="2" charset="0"/>
              </a:rPr>
              <a:t>Proceedings of the eleventh international conference on teaching statistics</a:t>
            </a:r>
            <a:r>
              <a:rPr lang="en-US" sz="900" b="0" i="0" dirty="0">
                <a:solidFill>
                  <a:srgbClr val="333333"/>
                </a:solidFill>
                <a:effectLst/>
                <a:latin typeface="Helvetica Neue" panose="02000503000000020004" pitchFamily="2" charset="0"/>
              </a:rPr>
              <a:t>. Rosario, Argentina.</a:t>
            </a:r>
          </a:p>
          <a:p>
            <a:pPr marL="0" indent="0" algn="l">
              <a:lnSpc>
                <a:spcPct val="120000"/>
              </a:lnSpc>
              <a:spcBef>
                <a:spcPts val="100"/>
              </a:spcBef>
              <a:buNone/>
            </a:pPr>
            <a:endParaRPr lang="en-US" sz="11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Helvetica Neue" panose="02000503000000020004" pitchFamily="2" charset="0"/>
              </a:rPr>
              <a:t>           NSF Awards 2236150 &amp; 2423026 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Helvetica Neue" panose="02000503000000020004" pitchFamily="2" charset="0"/>
              </a:rPr>
              <a:t>Penn State CSRAI Seed Grant #025243 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Helvetica Neue" panose="02000503000000020004" pitchFamily="2" charset="0"/>
              </a:rPr>
              <a:t>Penn State Global Strategic Partnership with University of Auckland (NZ)</a:t>
            </a:r>
            <a:endParaRPr lang="en-US" sz="1200" dirty="0">
              <a:solidFill>
                <a:srgbClr val="333333"/>
              </a:solidFill>
              <a:latin typeface="Helvetica Neue" panose="02000503000000020004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5E9EA5D-11C5-E7D3-206D-F2AD7EF51CAC}"/>
              </a:ext>
            </a:extLst>
          </p:cNvPr>
          <p:cNvSpPr txBox="1"/>
          <p:nvPr/>
        </p:nvSpPr>
        <p:spPr>
          <a:xfrm>
            <a:off x="5659320" y="5621835"/>
            <a:ext cx="25421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333333"/>
                </a:solidFill>
                <a:latin typeface="Helvetica Neue" panose="02000503000000020004" pitchFamily="2" charset="0"/>
              </a:rPr>
              <a:t>mdb268@psu.edu</a:t>
            </a:r>
          </a:p>
          <a:p>
            <a:pPr algn="ctr"/>
            <a:r>
              <a:rPr lang="en-US" dirty="0" err="1">
                <a:solidFill>
                  <a:srgbClr val="333333"/>
                </a:solidFill>
                <a:latin typeface="Helvetica Neue" panose="02000503000000020004" pitchFamily="2" charset="0"/>
              </a:rPr>
              <a:t>mdbeckman.github.io</a:t>
            </a:r>
            <a:endParaRPr lang="en-US" dirty="0">
              <a:solidFill>
                <a:srgbClr val="333333"/>
              </a:solidFill>
              <a:latin typeface="Helvetica Neue" panose="02000503000000020004" pitchFamily="2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B552B45-E16B-DFF9-A793-B6CD6AC08440}"/>
              </a:ext>
            </a:extLst>
          </p:cNvPr>
          <p:cNvSpPr txBox="1">
            <a:spLocks/>
          </p:cNvSpPr>
          <p:nvPr/>
        </p:nvSpPr>
        <p:spPr>
          <a:xfrm>
            <a:off x="5143500" y="272204"/>
            <a:ext cx="3902686" cy="530309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50000"/>
              </a:lnSpc>
              <a:spcBef>
                <a:spcPts val="1600"/>
              </a:spcBef>
              <a:spcAft>
                <a:spcPts val="1800"/>
              </a:spcAft>
              <a:buFont typeface="Arial" panose="020B0604020202020204" pitchFamily="34" charset="0"/>
              <a:buNone/>
            </a:pPr>
            <a:r>
              <a:rPr lang="en-US" sz="2400" dirty="0">
                <a:solidFill>
                  <a:schemeClr val="accent2"/>
                </a:solidFill>
                <a:latin typeface="+mj-lt"/>
              </a:rPr>
              <a:t>Matthew Beckman</a:t>
            </a:r>
          </a:p>
          <a:p>
            <a:pPr marL="0" indent="0" algn="ctr">
              <a:lnSpc>
                <a:spcPct val="150000"/>
              </a:lnSpc>
              <a:spcBef>
                <a:spcPts val="1600"/>
              </a:spcBef>
              <a:spcAft>
                <a:spcPts val="1800"/>
              </a:spcAft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accent2"/>
                </a:solidFill>
                <a:latin typeface="+mj-lt"/>
              </a:rPr>
              <a:t>Statistics &amp; Data Science Education (SDSE) Research</a:t>
            </a:r>
          </a:p>
          <a:p>
            <a:pPr marL="0" indent="0" algn="ctr">
              <a:lnSpc>
                <a:spcPct val="150000"/>
              </a:lnSpc>
              <a:spcBef>
                <a:spcPts val="1600"/>
              </a:spcBef>
              <a:spcAft>
                <a:spcPts val="1800"/>
              </a:spcAft>
              <a:buFont typeface="Arial" panose="020B0604020202020204" pitchFamily="34" charset="0"/>
              <a:buNone/>
            </a:pPr>
            <a:endParaRPr lang="en-US" sz="2400" dirty="0">
              <a:solidFill>
                <a:schemeClr val="bg1"/>
              </a:solidFill>
              <a:latin typeface="+mj-lt"/>
            </a:endParaRPr>
          </a:p>
          <a:p>
            <a:pPr marL="0" indent="0" algn="ctr">
              <a:lnSpc>
                <a:spcPct val="150000"/>
              </a:lnSpc>
              <a:spcBef>
                <a:spcPts val="1600"/>
              </a:spcBef>
              <a:spcAft>
                <a:spcPts val="1800"/>
              </a:spcAft>
              <a:buFont typeface="Arial" panose="020B0604020202020204" pitchFamily="34" charset="0"/>
              <a:buNone/>
            </a:pPr>
            <a:endParaRPr lang="en-US" sz="2400" dirty="0">
              <a:solidFill>
                <a:schemeClr val="bg1"/>
              </a:solidFill>
              <a:latin typeface="+mj-lt"/>
            </a:endParaRPr>
          </a:p>
          <a:p>
            <a:pPr marL="0" indent="0" algn="ctr">
              <a:lnSpc>
                <a:spcPct val="150000"/>
              </a:lnSpc>
              <a:spcBef>
                <a:spcPts val="1600"/>
              </a:spcBef>
              <a:spcAft>
                <a:spcPts val="1800"/>
              </a:spcAft>
              <a:buFont typeface="Arial" panose="020B0604020202020204" pitchFamily="34" charset="0"/>
              <a:buNone/>
            </a:pPr>
            <a:endParaRPr lang="en-US" sz="2400" dirty="0">
              <a:solidFill>
                <a:schemeClr val="bg1"/>
              </a:solidFill>
              <a:latin typeface="+mj-lt"/>
            </a:endParaRPr>
          </a:p>
          <a:p>
            <a:pPr marL="0" indent="0" algn="ctr">
              <a:lnSpc>
                <a:spcPct val="150000"/>
              </a:lnSpc>
              <a:spcBef>
                <a:spcPts val="1600"/>
              </a:spcBef>
              <a:spcAft>
                <a:spcPts val="180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+mj-lt"/>
              </a:rPr>
              <a:t>https://</a:t>
            </a:r>
            <a:r>
              <a:rPr lang="en-US" sz="2400" dirty="0" err="1">
                <a:solidFill>
                  <a:schemeClr val="bg1"/>
                </a:solidFill>
                <a:latin typeface="+mj-lt"/>
              </a:rPr>
              <a:t>bit.ly</a:t>
            </a:r>
            <a:r>
              <a:rPr lang="en-US" sz="2400" dirty="0">
                <a:solidFill>
                  <a:schemeClr val="bg1"/>
                </a:solidFill>
                <a:latin typeface="+mj-lt"/>
              </a:rPr>
              <a:t>/2026-Beckman-PSU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63D76D-8740-7DBD-33CB-AC5CF1B4A6C0}"/>
              </a:ext>
            </a:extLst>
          </p:cNvPr>
          <p:cNvSpPr txBox="1"/>
          <p:nvPr/>
        </p:nvSpPr>
        <p:spPr>
          <a:xfrm>
            <a:off x="9140777" y="4641360"/>
            <a:ext cx="279611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00" b="1" dirty="0">
                <a:solidFill>
                  <a:schemeClr val="accent2"/>
                </a:solidFill>
              </a:rPr>
              <a:t>Want to learn more?</a:t>
            </a:r>
          </a:p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Helvetica Neue" panose="02000503000000020004" pitchFamily="2" charset="0"/>
              </a:rPr>
              <a:t>SDSE Research Lab (email me)</a:t>
            </a:r>
            <a:endParaRPr lang="en-US" sz="1200" b="1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Helvetica Neue" panose="02000503000000020004" pitchFamily="2" charset="0"/>
              </a:rPr>
              <a:t>Drop by my office! (420 Thomas)</a:t>
            </a:r>
          </a:p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Helvetica Neue" panose="02000503000000020004" pitchFamily="2" charset="0"/>
              </a:rPr>
              <a:t>Ashtekar Lecture Feb 28</a:t>
            </a:r>
            <a:r>
              <a:rPr lang="en-US" sz="1000" baseline="30000" dirty="0">
                <a:solidFill>
                  <a:srgbClr val="333333"/>
                </a:solidFill>
                <a:latin typeface="Helvetica Neue" panose="02000503000000020004" pitchFamily="2" charset="0"/>
              </a:rPr>
              <a:t>th</a:t>
            </a:r>
            <a:r>
              <a:rPr lang="en-US" sz="1000" dirty="0">
                <a:solidFill>
                  <a:srgbClr val="333333"/>
                </a:solidFill>
                <a:latin typeface="Helvetica Neue" panose="02000503000000020004" pitchFamily="2" charset="0"/>
              </a:rPr>
              <a:t> @ 11am</a:t>
            </a:r>
          </a:p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Helvetica Neue" panose="02000503000000020004" pitchFamily="2" charset="0"/>
              </a:rPr>
              <a:t>Conferences: JSM; </a:t>
            </a:r>
            <a:r>
              <a:rPr lang="en-US" sz="1000" dirty="0" err="1">
                <a:solidFill>
                  <a:srgbClr val="333333"/>
                </a:solidFill>
                <a:latin typeface="Helvetica Neue" panose="02000503000000020004" pitchFamily="2" charset="0"/>
              </a:rPr>
              <a:t>eCOTS</a:t>
            </a:r>
            <a:r>
              <a:rPr lang="en-US" sz="1000" dirty="0">
                <a:solidFill>
                  <a:srgbClr val="333333"/>
                </a:solidFill>
                <a:latin typeface="Helvetica Neue" panose="02000503000000020004" pitchFamily="2" charset="0"/>
              </a:rPr>
              <a:t> 2026</a:t>
            </a:r>
          </a:p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000" dirty="0" err="1">
                <a:solidFill>
                  <a:srgbClr val="333333"/>
                </a:solidFill>
                <a:latin typeface="Helvetica Neue" panose="02000503000000020004" pitchFamily="2" charset="0"/>
              </a:rPr>
              <a:t>causeweb.org</a:t>
            </a:r>
            <a:endParaRPr lang="en-US" sz="1000" dirty="0">
              <a:solidFill>
                <a:srgbClr val="333333"/>
              </a:solidFill>
              <a:latin typeface="Helvetica Neue" panose="02000503000000020004" pitchFamily="2" charset="0"/>
            </a:endParaRPr>
          </a:p>
        </p:txBody>
      </p:sp>
      <p:pic>
        <p:nvPicPr>
          <p:cNvPr id="12" name="Picture 11" descr="A logo of a globe with a gold cogwheel&#10;&#10;Description automatically generated">
            <a:extLst>
              <a:ext uri="{FF2B5EF4-FFF2-40B4-BE49-F238E27FC236}">
                <a16:creationId xmlns:a16="http://schemas.microsoft.com/office/drawing/2014/main" id="{68747CA0-270C-1B00-05B3-6C1055FF07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5" y="5783638"/>
            <a:ext cx="427382" cy="427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C779EE-343C-5AD2-5686-9E9B963EF0BF}"/>
              </a:ext>
            </a:extLst>
          </p:cNvPr>
          <p:cNvSpPr txBox="1"/>
          <p:nvPr/>
        </p:nvSpPr>
        <p:spPr>
          <a:xfrm>
            <a:off x="9140777" y="127748"/>
            <a:ext cx="2939922" cy="46381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00" b="1" dirty="0">
                <a:solidFill>
                  <a:schemeClr val="accent2"/>
                </a:solidFill>
              </a:rPr>
              <a:t>Other Projects/Interests</a:t>
            </a:r>
          </a:p>
          <a:p>
            <a:pPr marL="171450" indent="-17145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333333"/>
                </a:solidFill>
                <a:latin typeface="Helvetica Neue" panose="02000503000000020004" pitchFamily="2" charset="0"/>
              </a:rPr>
              <a:t>Educational Assessment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900" dirty="0">
                <a:solidFill>
                  <a:srgbClr val="333333"/>
                </a:solidFill>
                <a:latin typeface="Helvetica Neue" panose="02000503000000020004" pitchFamily="2" charset="0"/>
              </a:rPr>
              <a:t>Developing &amp; analyzing tools to measure specific learning outcomes. Novel approaches to assessment.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900" dirty="0">
                <a:solidFill>
                  <a:srgbClr val="333333"/>
                </a:solidFill>
                <a:latin typeface="Helvetica Neue" panose="02000503000000020004" pitchFamily="2" charset="0"/>
              </a:rPr>
              <a:t>”Tests" for research across academic institutions;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900" dirty="0">
                <a:solidFill>
                  <a:srgbClr val="333333"/>
                </a:solidFill>
                <a:latin typeface="Helvetica Neue" panose="02000503000000020004" pitchFamily="2" charset="0"/>
              </a:rPr>
              <a:t>Formative assessment; e.g., feedback for self-regulated learning and/or adaptive instruction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800" dirty="0">
                <a:solidFill>
                  <a:srgbClr val="333333"/>
                </a:solidFill>
                <a:latin typeface="Helvetica Neue" panose="02000503000000020004" pitchFamily="2" charset="0"/>
              </a:rPr>
              <a:t>&gt; Sayali Phadke, Beckman, Lock Morgan (2024). Measuring contextualized statistical literacy: Evidence from an isomorphic assessment.</a:t>
            </a:r>
            <a:endParaRPr lang="en-US" sz="900" dirty="0">
              <a:solidFill>
                <a:srgbClr val="333333"/>
              </a:solidFill>
              <a:latin typeface="Helvetica Neue" panose="02000503000000020004" pitchFamily="2" charset="0"/>
            </a:endParaRPr>
          </a:p>
          <a:p>
            <a:pPr marL="171450" indent="-17145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333333"/>
                </a:solidFill>
                <a:latin typeface="Helvetica Neue" panose="02000503000000020004" pitchFamily="2" charset="0"/>
              </a:rPr>
              <a:t>Data Science Education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Helvetica Neue" panose="02000503000000020004" pitchFamily="2" charset="0"/>
                <a:ea typeface="+mn-ea"/>
                <a:cs typeface="+mn-cs"/>
              </a:rPr>
              <a:t>Intersection of stat education &amp; computing education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Helvetica Neue" panose="02000503000000020004" pitchFamily="2" charset="0"/>
                <a:ea typeface="+mn-ea"/>
                <a:cs typeface="+mn-cs"/>
              </a:rPr>
              <a:t>Mixed</a:t>
            </a:r>
            <a:r>
              <a:rPr lang="en-US" sz="900" dirty="0">
                <a:solidFill>
                  <a:srgbClr val="333333"/>
                </a:solidFill>
                <a:latin typeface="Helvetica Neue" panose="02000503000000020004" pitchFamily="2" charset="0"/>
              </a:rPr>
              <a:t>-methods analysis of Intro DS Course content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Helvetica Neue" panose="02000503000000020004" pitchFamily="2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Helvetica Neue" panose="02000503000000020004" pitchFamily="2" charset="0"/>
                <a:ea typeface="+mn-ea"/>
                <a:cs typeface="+mn-cs"/>
              </a:rPr>
              <a:t>Studying DS/CS topics introduced as learning objectives in statistics curricula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Helvetica Neue" panose="02000503000000020004" pitchFamily="2" charset="0"/>
                <a:ea typeface="+mn-ea"/>
                <a:cs typeface="+mn-cs"/>
              </a:rPr>
              <a:t>Data literacy, data acumen, EDA for Data Science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Helvetica Neue" panose="02000503000000020004" pitchFamily="2" charset="0"/>
                <a:ea typeface="+mn-ea"/>
                <a:cs typeface="+mn-cs"/>
              </a:rPr>
              <a:t>&gt; Alyssa Hu, Hatfield, Beckman (2025). Exploring individuals’ computational </a:t>
            </a:r>
            <a:r>
              <a:rPr lang="en-US" sz="800" dirty="0">
                <a:solidFill>
                  <a:srgbClr val="333333"/>
                </a:solidFill>
                <a:latin typeface="Helvetica Neue" panose="02000503000000020004" pitchFamily="2" charset="0"/>
              </a:rPr>
              <a:t>t</a:t>
            </a:r>
            <a:r>
              <a:rPr kumimoji="0" 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Helvetica Neue" panose="02000503000000020004" pitchFamily="2" charset="0"/>
                <a:ea typeface="+mn-ea"/>
                <a:cs typeface="+mn-cs"/>
              </a:rPr>
              <a:t>hinking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Helvetica Neue" panose="02000503000000020004" pitchFamily="2" charset="0"/>
                <a:ea typeface="+mn-ea"/>
                <a:cs typeface="+mn-cs"/>
              </a:rPr>
              <a:t> with data. ZDM Mathematics Education, 57.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Helvetica Neue" panose="02000503000000020004" pitchFamily="2" charset="0"/>
                <a:ea typeface="+mn-ea"/>
                <a:cs typeface="+mn-cs"/>
              </a:rPr>
              <a:t>&gt; Beckman et al (2021). Implementing Version Control With Git and GitHub as a Learning Objective in Statistics and Data Science Courses. JSDSE, 29(1).</a:t>
            </a:r>
            <a:endParaRPr lang="en-US" sz="1250" dirty="0">
              <a:solidFill>
                <a:srgbClr val="333333"/>
              </a:solidFill>
              <a:latin typeface="Helvetica Neue" panose="02000503000000020004" pitchFamily="2" charset="0"/>
            </a:endParaRPr>
          </a:p>
        </p:txBody>
      </p:sp>
      <p:pic>
        <p:nvPicPr>
          <p:cNvPr id="8" name="Picture 7" descr="A qr code with a white background&#10;&#10;AI-generated content may be incorrect.">
            <a:extLst>
              <a:ext uri="{FF2B5EF4-FFF2-40B4-BE49-F238E27FC236}">
                <a16:creationId xmlns:a16="http://schemas.microsoft.com/office/drawing/2014/main" id="{6C294BF9-9AF7-7B2E-BE08-82EDDEC237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1818" y="2149849"/>
            <a:ext cx="2686050" cy="2686050"/>
          </a:xfrm>
          <a:prstGeom prst="rect">
            <a:avLst/>
          </a:prstGeom>
        </p:spPr>
      </p:pic>
      <p:pic>
        <p:nvPicPr>
          <p:cNvPr id="13" name="Picture 12" descr="A diagram of a framework&#10;&#10;AI-generated content may be incorrect.">
            <a:extLst>
              <a:ext uri="{FF2B5EF4-FFF2-40B4-BE49-F238E27FC236}">
                <a16:creationId xmlns:a16="http://schemas.microsoft.com/office/drawing/2014/main" id="{83A146D2-EABF-E290-F327-E28037C5C1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689" y="1407412"/>
            <a:ext cx="4558768" cy="2628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7897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A Palette">
      <a:dk1>
        <a:srgbClr val="000000"/>
      </a:dk1>
      <a:lt1>
        <a:srgbClr val="FFFFFF"/>
      </a:lt1>
      <a:dk2>
        <a:srgbClr val="041E41"/>
      </a:dk2>
      <a:lt2>
        <a:srgbClr val="B8D6E6"/>
      </a:lt2>
      <a:accent1>
        <a:srgbClr val="009CDE"/>
      </a:accent1>
      <a:accent2>
        <a:srgbClr val="1E407C"/>
      </a:accent2>
      <a:accent3>
        <a:srgbClr val="A3AAAD"/>
      </a:accent3>
      <a:accent4>
        <a:srgbClr val="83B1D4"/>
      </a:accent4>
      <a:accent5>
        <a:srgbClr val="3EA39E"/>
      </a:accent5>
      <a:accent6>
        <a:srgbClr val="305470"/>
      </a:accent6>
      <a:hlink>
        <a:srgbClr val="64B8B6"/>
      </a:hlink>
      <a:folHlink>
        <a:srgbClr val="7D4C7C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204A49901785041AF741C157FF60EBA" ma:contentTypeVersion="12" ma:contentTypeDescription="Create a new document." ma:contentTypeScope="" ma:versionID="2dc561ac532b927686394fff98d3cec6">
  <xsd:schema xmlns:xsd="http://www.w3.org/2001/XMLSchema" xmlns:xs="http://www.w3.org/2001/XMLSchema" xmlns:p="http://schemas.microsoft.com/office/2006/metadata/properties" xmlns:ns2="c7c738f6-68ec-422e-b0e4-3523873f7adf" xmlns:ns3="542b8847-f5d4-4c9f-bd30-657d16e5db1d" targetNamespace="http://schemas.microsoft.com/office/2006/metadata/properties" ma:root="true" ma:fieldsID="37215006c6ba2f10ad2271fcfa8576ba" ns2:_="" ns3:_="">
    <xsd:import namespace="c7c738f6-68ec-422e-b0e4-3523873f7adf"/>
    <xsd:import namespace="542b8847-f5d4-4c9f-bd30-657d16e5db1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7c738f6-68ec-422e-b0e4-3523873f7ad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7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42b8847-f5d4-4c9f-bd30-657d16e5db1d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2C23066-3038-4EAE-A0EA-AB2B4833A6F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2C77EA6-48BC-4990-B9D9-3092A42A88E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7c738f6-68ec-422e-b0e4-3523873f7adf"/>
    <ds:schemaRef ds:uri="542b8847-f5d4-4c9f-bd30-657d16e5db1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21007C3-AD67-44B1-B137-2991E4E207A2}">
  <ds:schemaRefs>
    <ds:schemaRef ds:uri="c7c738f6-68ec-422e-b0e4-3523873f7adf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542b8847-f5d4-4c9f-bd30-657d16e5db1d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purl.org/dc/dcmitype/"/>
    <ds:schemaRef ds:uri="http://purl.org/dc/terms/"/>
  </ds:schemaRefs>
</ds:datastoreItem>
</file>

<file path=docMetadata/LabelInfo.xml><?xml version="1.0" encoding="utf-8"?>
<clbl:labelList xmlns:clbl="http://schemas.microsoft.com/office/2020/mipLabelMetadata">
  <clbl:label id="{7cf48d45-3ddb-4389-a9c1-c115526eb52e}" enabled="0" method="" siteId="{7cf48d45-3ddb-4389-a9c1-c115526eb52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2048</TotalTime>
  <Words>434</Words>
  <Application>Microsoft Macintosh PowerPoint</Application>
  <PresentationFormat>Widescreen</PresentationFormat>
  <Paragraphs>54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Franklin Gothic Book</vt:lpstr>
      <vt:lpstr>Franklin Gothic Medium</vt:lpstr>
      <vt:lpstr>Helvetica Neue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Beckman, Matthew D</cp:lastModifiedBy>
  <cp:revision>171</cp:revision>
  <cp:lastPrinted>2018-11-02T20:57:08Z</cp:lastPrinted>
  <dcterms:created xsi:type="dcterms:W3CDTF">2018-03-19T17:38:41Z</dcterms:created>
  <dcterms:modified xsi:type="dcterms:W3CDTF">2026-02-05T13:20:04Z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0x0101009204A49901785041AF741C157FF60EBA</vt:lpwstr>
  </property>
</Properties>
</file>